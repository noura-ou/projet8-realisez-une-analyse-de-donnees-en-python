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69" r:id="rId4"/>
    <p:sldId id="259" r:id="rId5"/>
    <p:sldId id="258" r:id="rId6"/>
    <p:sldId id="265" r:id="rId7"/>
    <p:sldId id="270" r:id="rId8"/>
    <p:sldId id="266" r:id="rId9"/>
    <p:sldId id="260" r:id="rId10"/>
    <p:sldId id="261" r:id="rId11"/>
    <p:sldId id="263" r:id="rId12"/>
    <p:sldId id="264" r:id="rId13"/>
    <p:sldId id="267" r:id="rId14"/>
  </p:sldIdLst>
  <p:sldSz cx="9144000" cy="5143500" type="screen16x9"/>
  <p:notesSz cx="6858000" cy="9144000"/>
  <p:embeddedFontLst>
    <p:embeddedFont>
      <p:font typeface="Lato" panose="020F0502020204030203" pitchFamily="34" charset="0"/>
      <p:regular r:id="rId16"/>
      <p:bold r:id="rId17"/>
      <p:italic r:id="rId18"/>
      <p:boldItalic r:id="rId19"/>
    </p:embeddedFont>
    <p:embeddedFont>
      <p:font typeface="Montserrat" panose="00000500000000000000" pitchFamily="2" charset="0"/>
      <p:regular r:id="rId20"/>
      <p:bold r:id="rId21"/>
      <p:italic r:id="rId22"/>
      <p:boldItalic r:id="rId23"/>
    </p:embeddedFont>
    <p:embeddedFont>
      <p:font typeface="Raleway"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772" autoAdjust="0"/>
  </p:normalViewPr>
  <p:slideViewPr>
    <p:cSldViewPr snapToGrid="0">
      <p:cViewPr varScale="1">
        <p:scale>
          <a:sx n="125" d="100"/>
          <a:sy n="125" d="100"/>
        </p:scale>
        <p:origin x="1194"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36c227a4f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36c227a4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36251e9b6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36251e9b6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36251e9b62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36251e9b62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i="1" dirty="0">
                <a:latin typeface="Montserrat"/>
                <a:ea typeface="Montserrat"/>
                <a:cs typeface="Montserrat"/>
                <a:sym typeface="Montserrat"/>
              </a:rPr>
              <a:t>Expliquez ici la méthodologie et décrivez les différentes étapes  que vous avez suivies pour réaliser le projet.</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6251e9b62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6251e9b62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 i="1" dirty="0">
                <a:latin typeface="Montserrat"/>
                <a:ea typeface="Montserrat"/>
                <a:cs typeface="Montserrat"/>
                <a:sym typeface="Montserrat"/>
              </a:rPr>
              <a:t>Insérer ici le résultat de vos analyses du marché de l’immobilier à Paris entre 2017 et 2021 ainsi que vos éventuels commentaires.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dirty="0"/>
              <a:t>On observe que </a:t>
            </a:r>
          </a:p>
          <a:p>
            <a:pPr marL="158750" indent="0">
              <a:buNone/>
            </a:pPr>
            <a:r>
              <a:rPr lang="fr-FR" dirty="0"/>
              <a:t> - Des points très haut = ventes très chères (souvent bien de luxe ou erreur de saisie)\n - Des zones avec beaucoup de points serrés =&gt; période avec beaucoup de ventes\n - Des trous =&gt; peut signaler un manque de données ou une période creuse (ex : confinement en 2020)\n\</a:t>
            </a:r>
            <a:r>
              <a:rPr lang="fr-FR" dirty="0" err="1"/>
              <a:t>nPour</a:t>
            </a:r>
            <a:r>
              <a:rPr lang="fr-FR" dirty="0"/>
              <a:t> nous rassurer sur la relation entre les données nous allons utiliser un test statistique de corrélation.</a:t>
            </a:r>
          </a:p>
        </p:txBody>
      </p:sp>
    </p:spTree>
    <p:extLst>
      <p:ext uri="{BB962C8B-B14F-4D97-AF65-F5344CB8AC3E}">
        <p14:creationId xmlns:p14="http://schemas.microsoft.com/office/powerpoint/2010/main" val="2145604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36251e9b62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36251e9b62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i="1" dirty="0">
                <a:latin typeface="Montserrat"/>
                <a:ea typeface="Montserrat"/>
                <a:cs typeface="Montserrat"/>
                <a:sym typeface="Montserrat"/>
              </a:rPr>
              <a:t>Expliquez ici: </a:t>
            </a:r>
          </a:p>
          <a:p>
            <a:pPr marL="457200" lvl="0" indent="-311150" algn="l" rtl="0">
              <a:spcBef>
                <a:spcPts val="1200"/>
              </a:spcBef>
              <a:spcAft>
                <a:spcPts val="0"/>
              </a:spcAft>
              <a:buSzPts val="1300"/>
              <a:buFont typeface="Montserrat"/>
              <a:buChar char="-"/>
            </a:pPr>
            <a:r>
              <a:rPr lang="fr-FR" i="1" dirty="0">
                <a:latin typeface="Montserrat"/>
                <a:ea typeface="Montserrat"/>
                <a:cs typeface="Montserrat"/>
                <a:sym typeface="Montserrat"/>
              </a:rPr>
              <a:t>Le résultat de votre prédiction sur la valorisation au 31 décembre 2022 du portefeuille des actifs immobiliers de l’entreprise.</a:t>
            </a:r>
          </a:p>
          <a:p>
            <a:pPr marL="457200" lvl="0" indent="-311150" algn="l" rtl="0">
              <a:spcBef>
                <a:spcPts val="0"/>
              </a:spcBef>
              <a:spcAft>
                <a:spcPts val="0"/>
              </a:spcAft>
              <a:buSzPts val="1300"/>
              <a:buFont typeface="Montserrat"/>
              <a:buChar char="-"/>
            </a:pPr>
            <a:r>
              <a:rPr lang="fr-FR" i="1" dirty="0">
                <a:latin typeface="Montserrat"/>
                <a:ea typeface="Montserrat"/>
                <a:cs typeface="Montserrat"/>
                <a:sym typeface="Montserrat"/>
              </a:rPr>
              <a:t>Les limites et précautions à prendre avec vos résultats.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Le segment </a:t>
            </a:r>
            <a:r>
              <a:rPr lang="fr-FR" dirty="0" err="1"/>
              <a:t>corporate</a:t>
            </a:r>
            <a:r>
              <a:rPr lang="fr-FR" dirty="0"/>
              <a:t> aura une valorisation supérieure au segment particulier au 31 décembre 2022.</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36c227a4fd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36c227a4f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136c227a4fd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136c227a4fd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 i="1" dirty="0">
                <a:latin typeface="Montserrat"/>
                <a:ea typeface="Montserrat"/>
                <a:cs typeface="Montserrat"/>
                <a:sym typeface="Montserrat"/>
              </a:rPr>
              <a:t>Expliquez ici la méthodologie et décrivez les différentes étapes  que vous avez suivies pour réaliser le projet. N’oubliez pas que votre interlocuteur n’est pas technique.</a:t>
            </a:r>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36c227a4f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36c227a4f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i="1" dirty="0">
                <a:latin typeface="Montserrat"/>
                <a:ea typeface="Montserrat"/>
                <a:cs typeface="Montserrat"/>
                <a:sym typeface="Montserrat"/>
              </a:rPr>
              <a:t>Expliquez ici: </a:t>
            </a:r>
          </a:p>
          <a:p>
            <a:pPr marL="457200" lvl="0" indent="-311150" algn="l" rtl="0">
              <a:spcBef>
                <a:spcPts val="1200"/>
              </a:spcBef>
              <a:spcAft>
                <a:spcPts val="0"/>
              </a:spcAft>
              <a:buSzPts val="1300"/>
              <a:buFont typeface="Montserrat"/>
              <a:buChar char="-"/>
            </a:pPr>
            <a:r>
              <a:rPr lang="fr-FR" i="1" dirty="0">
                <a:latin typeface="Montserrat"/>
                <a:ea typeface="Montserrat"/>
                <a:cs typeface="Montserrat"/>
                <a:sym typeface="Montserrat"/>
              </a:rPr>
              <a:t>Le résultat de votre prédiction sur la classification des biens immobiliers transmis par l’entreprise.</a:t>
            </a:r>
          </a:p>
          <a:p>
            <a:pPr marL="457200" lvl="0" indent="-311150" algn="l" rtl="0">
              <a:spcBef>
                <a:spcPts val="0"/>
              </a:spcBef>
              <a:spcAft>
                <a:spcPts val="0"/>
              </a:spcAft>
              <a:buSzPts val="1300"/>
              <a:buFont typeface="Montserrat"/>
              <a:buChar char="-"/>
            </a:pPr>
            <a:r>
              <a:rPr lang="fr-FR" i="1" dirty="0">
                <a:latin typeface="Montserrat"/>
                <a:ea typeface="Montserrat"/>
                <a:cs typeface="Montserrat"/>
                <a:sym typeface="Montserrat"/>
              </a:rPr>
              <a:t>Les limites et précautions à prendre avec vos résultats.</a:t>
            </a:r>
          </a:p>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t>Les Plus Beaux Logis de Paris</a:t>
            </a:r>
            <a:endParaRPr dirty="0"/>
          </a:p>
          <a:p>
            <a:pPr marL="0" lvl="0" indent="0" algn="l" rtl="0">
              <a:spcBef>
                <a:spcPts val="0"/>
              </a:spcBef>
              <a:spcAft>
                <a:spcPts val="0"/>
              </a:spcAft>
              <a:buNone/>
            </a:pPr>
            <a:r>
              <a:rPr lang="fr" dirty="0"/>
              <a:t>Partie 1</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subTitle" idx="1"/>
          </p:nvPr>
        </p:nvSpPr>
        <p:spPr>
          <a:xfrm>
            <a:off x="495300" y="2612199"/>
            <a:ext cx="8648700" cy="2441375"/>
          </a:xfrm>
          <a:prstGeom prst="rect">
            <a:avLst/>
          </a:prstGeom>
        </p:spPr>
        <p:txBody>
          <a:bodyPr spcFirstLastPara="1" wrap="square" lIns="91425" tIns="91425" rIns="91425" bIns="91425" anchor="t" anchorCtr="0">
            <a:normAutofit/>
          </a:bodyPr>
          <a:lstStyle/>
          <a:p>
            <a:pPr marL="0" lvl="0" indent="0" algn="l" rtl="0">
              <a:lnSpc>
                <a:spcPct val="90000"/>
              </a:lnSpc>
              <a:spcBef>
                <a:spcPts val="1000"/>
              </a:spcBef>
              <a:spcAft>
                <a:spcPts val="0"/>
              </a:spcAft>
              <a:buClr>
                <a:schemeClr val="dk1"/>
              </a:buClr>
              <a:buSzPct val="50000"/>
              <a:buFont typeface="Arial"/>
              <a:buNone/>
            </a:pPr>
            <a:r>
              <a:rPr lang="fr-FR" sz="2800" i="1" dirty="0">
                <a:solidFill>
                  <a:schemeClr val="dk1"/>
                </a:solidFill>
                <a:latin typeface="Montserrat"/>
                <a:ea typeface="Montserrat"/>
                <a:cs typeface="Montserrat"/>
                <a:sym typeface="Montserrat"/>
              </a:rPr>
              <a:t>Analysez l’évolution des prix de l’immobilier avec Python</a:t>
            </a:r>
          </a:p>
          <a:p>
            <a:pPr marL="0" lvl="0" indent="0" algn="l" rtl="0">
              <a:lnSpc>
                <a:spcPct val="90000"/>
              </a:lnSpc>
              <a:spcBef>
                <a:spcPts val="1000"/>
              </a:spcBef>
              <a:spcAft>
                <a:spcPts val="0"/>
              </a:spcAft>
              <a:buClr>
                <a:schemeClr val="dk1"/>
              </a:buClr>
              <a:buSzPct val="50000"/>
              <a:buFont typeface="Arial"/>
              <a:buNone/>
            </a:pPr>
            <a:endParaRPr lang="fr-FR" sz="2200" i="1" dirty="0">
              <a:solidFill>
                <a:schemeClr val="dk1"/>
              </a:solidFill>
              <a:latin typeface="Montserrat"/>
              <a:ea typeface="Montserrat"/>
              <a:cs typeface="Montserrat"/>
              <a:sym typeface="Montserrat"/>
            </a:endParaRPr>
          </a:p>
          <a:p>
            <a:pPr marL="0" lvl="0" indent="0" algn="l" rtl="0">
              <a:lnSpc>
                <a:spcPct val="90000"/>
              </a:lnSpc>
              <a:spcBef>
                <a:spcPts val="1000"/>
              </a:spcBef>
              <a:spcAft>
                <a:spcPts val="0"/>
              </a:spcAft>
              <a:buClr>
                <a:schemeClr val="dk1"/>
              </a:buClr>
              <a:buSzPct val="50000"/>
              <a:buFont typeface="Arial"/>
              <a:buNone/>
            </a:pPr>
            <a:r>
              <a:rPr lang="fr" sz="1800" i="1" dirty="0">
                <a:solidFill>
                  <a:schemeClr val="dk1"/>
                </a:solidFill>
                <a:latin typeface="Montserrat"/>
                <a:ea typeface="Montserrat"/>
                <a:cs typeface="Montserrat"/>
                <a:sym typeface="Montserrat"/>
              </a:rPr>
              <a:t>Noura OUSFIA</a:t>
            </a:r>
            <a:endParaRPr sz="1800" i="1" dirty="0">
              <a:solidFill>
                <a:schemeClr val="dk1"/>
              </a:solidFill>
              <a:latin typeface="Montserrat"/>
              <a:ea typeface="Montserrat"/>
              <a:cs typeface="Montserrat"/>
              <a:sym typeface="Montserrat"/>
            </a:endParaRPr>
          </a:p>
          <a:p>
            <a:pPr marL="0" lvl="0" indent="0" algn="l" rtl="0">
              <a:lnSpc>
                <a:spcPct val="90000"/>
              </a:lnSpc>
              <a:spcBef>
                <a:spcPts val="1000"/>
              </a:spcBef>
              <a:spcAft>
                <a:spcPts val="0"/>
              </a:spcAft>
              <a:buClr>
                <a:schemeClr val="dk1"/>
              </a:buClr>
              <a:buSzPct val="50000"/>
              <a:buFont typeface="Arial"/>
              <a:buNone/>
            </a:pPr>
            <a:r>
              <a:rPr lang="fr" sz="1800" i="1" dirty="0">
                <a:solidFill>
                  <a:schemeClr val="dk1"/>
                </a:solidFill>
                <a:latin typeface="Montserrat"/>
                <a:ea typeface="Montserrat"/>
                <a:cs typeface="Montserrat"/>
                <a:sym typeface="Montserrat"/>
              </a:rPr>
              <a:t>08/08/2025</a:t>
            </a:r>
            <a:endParaRPr sz="1800" i="1"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dirty="0"/>
          </a:p>
        </p:txBody>
      </p:sp>
      <p:pic>
        <p:nvPicPr>
          <p:cNvPr id="92" name="Google Shape;92;p14"/>
          <p:cNvPicPr preferRelativeResize="0"/>
          <p:nvPr/>
        </p:nvPicPr>
        <p:blipFill>
          <a:blip r:embed="rId3">
            <a:alphaModFix/>
          </a:blip>
          <a:stretch>
            <a:fillRect/>
          </a:stretch>
        </p:blipFill>
        <p:spPr>
          <a:xfrm>
            <a:off x="623400" y="89925"/>
            <a:ext cx="3669750" cy="164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979078-7A08-C719-854A-7C71F612959C}"/>
              </a:ext>
            </a:extLst>
          </p:cNvPr>
          <p:cNvSpPr>
            <a:spLocks noGrp="1"/>
          </p:cNvSpPr>
          <p:nvPr>
            <p:ph type="title"/>
          </p:nvPr>
        </p:nvSpPr>
        <p:spPr/>
        <p:txBody>
          <a:bodyPr>
            <a:normAutofit fontScale="90000"/>
          </a:bodyPr>
          <a:lstStyle/>
          <a:p>
            <a:r>
              <a:rPr lang="fr-FR" dirty="0"/>
              <a:t>Objectifs du projet</a:t>
            </a:r>
            <a:br>
              <a:rPr lang="fr-FR" dirty="0"/>
            </a:br>
            <a:endParaRPr lang="fr-FR" dirty="0"/>
          </a:p>
        </p:txBody>
      </p:sp>
      <p:sp>
        <p:nvSpPr>
          <p:cNvPr id="3" name="Espace réservé du texte 2">
            <a:extLst>
              <a:ext uri="{FF2B5EF4-FFF2-40B4-BE49-F238E27FC236}">
                <a16:creationId xmlns:a16="http://schemas.microsoft.com/office/drawing/2014/main" id="{2EED1B8F-0A47-A967-1219-D872871A9739}"/>
              </a:ext>
            </a:extLst>
          </p:cNvPr>
          <p:cNvSpPr>
            <a:spLocks noGrp="1"/>
          </p:cNvSpPr>
          <p:nvPr>
            <p:ph type="body" idx="1"/>
          </p:nvPr>
        </p:nvSpPr>
        <p:spPr/>
        <p:txBody>
          <a:bodyPr/>
          <a:lstStyle/>
          <a:p>
            <a:r>
              <a:rPr lang="fr-FR" dirty="0"/>
              <a:t>Utiliser des </a:t>
            </a:r>
            <a:r>
              <a:rPr lang="fr-FR" b="1" dirty="0"/>
              <a:t>modèles de régression</a:t>
            </a:r>
            <a:r>
              <a:rPr lang="fr-FR" dirty="0"/>
              <a:t> pour </a:t>
            </a:r>
            <a:r>
              <a:rPr lang="fr-FR" b="1" dirty="0"/>
              <a:t>prédire le prix des biens immobiliers</a:t>
            </a:r>
            <a:r>
              <a:rPr lang="fr-FR" dirty="0"/>
              <a:t> avec une </a:t>
            </a:r>
            <a:r>
              <a:rPr lang="fr-FR" b="1" dirty="0"/>
              <a:t>erreur inférieure à 10%</a:t>
            </a:r>
            <a:r>
              <a:rPr lang="fr-FR" dirty="0"/>
              <a:t>.</a:t>
            </a:r>
          </a:p>
          <a:p>
            <a:r>
              <a:rPr lang="fr-FR" dirty="0"/>
              <a:t>Identifier les </a:t>
            </a:r>
            <a:r>
              <a:rPr lang="fr-FR" b="1" dirty="0"/>
              <a:t>dimensions clés</a:t>
            </a:r>
            <a:r>
              <a:rPr lang="fr-FR" dirty="0"/>
              <a:t> qui influencent le prix (surface, type de bien, etc.).</a:t>
            </a:r>
          </a:p>
          <a:p>
            <a:r>
              <a:rPr lang="fr-FR" dirty="0"/>
              <a:t>Développer un </a:t>
            </a:r>
            <a:r>
              <a:rPr lang="fr-FR" b="1" dirty="0"/>
              <a:t>algorithme de classification automatique</a:t>
            </a:r>
            <a:r>
              <a:rPr lang="fr-FR" dirty="0"/>
              <a:t> pour prédire les prix </a:t>
            </a:r>
            <a:r>
              <a:rPr lang="fr-FR" b="1" dirty="0"/>
              <a:t>d’un bien</a:t>
            </a:r>
            <a:r>
              <a:rPr lang="fr-FR" dirty="0"/>
              <a:t> à partir des données disponibles.</a:t>
            </a:r>
          </a:p>
          <a:p>
            <a:r>
              <a:rPr lang="fr-FR" dirty="0"/>
              <a:t>Aider à repérer le </a:t>
            </a:r>
            <a:r>
              <a:rPr lang="fr-FR" b="1" dirty="0"/>
              <a:t>segment du portefeuille avec la plus forte valorisation future</a:t>
            </a:r>
            <a:r>
              <a:rPr lang="fr-FR" dirty="0"/>
              <a:t>.</a:t>
            </a:r>
          </a:p>
          <a:p>
            <a:pPr marL="146050" indent="0">
              <a:buNone/>
            </a:pPr>
            <a:endParaRPr lang="fr-FR" dirty="0"/>
          </a:p>
        </p:txBody>
      </p:sp>
    </p:spTree>
    <p:extLst>
      <p:ext uri="{BB962C8B-B14F-4D97-AF65-F5344CB8AC3E}">
        <p14:creationId xmlns:p14="http://schemas.microsoft.com/office/powerpoint/2010/main" val="291939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7650" y="6172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3333"/>
              <a:buFont typeface="Arial"/>
              <a:buNone/>
            </a:pPr>
            <a:r>
              <a:rPr lang="fr" sz="3300" dirty="0">
                <a:latin typeface="Montserrat"/>
                <a:ea typeface="Montserrat"/>
                <a:cs typeface="Montserrat"/>
                <a:sym typeface="Montserrat"/>
              </a:rPr>
              <a:t>II. Méthodologie suivie </a:t>
            </a:r>
            <a:endParaRPr sz="3300" dirty="0">
              <a:latin typeface="Montserrat"/>
              <a:ea typeface="Montserrat"/>
              <a:cs typeface="Montserrat"/>
              <a:sym typeface="Montserrat"/>
            </a:endParaRPr>
          </a:p>
          <a:p>
            <a:pPr marL="0" lvl="0" indent="0" algn="l" rtl="0">
              <a:spcBef>
                <a:spcPts val="0"/>
              </a:spcBef>
              <a:spcAft>
                <a:spcPts val="0"/>
              </a:spcAft>
              <a:buClr>
                <a:schemeClr val="dk1"/>
              </a:buClr>
              <a:buSzPct val="30555"/>
              <a:buFont typeface="Arial"/>
              <a:buNone/>
            </a:pPr>
            <a:endParaRPr sz="3600" dirty="0"/>
          </a:p>
          <a:p>
            <a:pPr marL="0" lvl="0" indent="0" algn="l" rtl="0">
              <a:spcBef>
                <a:spcPts val="0"/>
              </a:spcBef>
              <a:spcAft>
                <a:spcPts val="0"/>
              </a:spcAft>
              <a:buClr>
                <a:schemeClr val="dk1"/>
              </a:buClr>
              <a:buSzPct val="30555"/>
              <a:buFont typeface="Arial"/>
              <a:buNone/>
            </a:pPr>
            <a:endParaRPr sz="3600" dirty="0"/>
          </a:p>
          <a:p>
            <a:pPr marL="0" lvl="0" indent="0" algn="l" rtl="0">
              <a:spcBef>
                <a:spcPts val="0"/>
              </a:spcBef>
              <a:spcAft>
                <a:spcPts val="0"/>
              </a:spcAft>
              <a:buNone/>
            </a:pPr>
            <a:endParaRPr dirty="0"/>
          </a:p>
        </p:txBody>
      </p:sp>
      <p:sp>
        <p:nvSpPr>
          <p:cNvPr id="105" name="Google Shape;105;p16"/>
          <p:cNvSpPr txBox="1">
            <a:spLocks noGrp="1"/>
          </p:cNvSpPr>
          <p:nvPr>
            <p:ph type="body" idx="1"/>
          </p:nvPr>
        </p:nvSpPr>
        <p:spPr>
          <a:xfrm>
            <a:off x="729450" y="1171150"/>
            <a:ext cx="7688700" cy="2902200"/>
          </a:xfrm>
          <a:prstGeom prst="rect">
            <a:avLst/>
          </a:prstGeom>
        </p:spPr>
        <p:txBody>
          <a:bodyPr spcFirstLastPara="1" wrap="square" lIns="91425" tIns="91425" rIns="91425" bIns="91425" anchor="t" anchorCtr="0">
            <a:normAutofit/>
          </a:bodyPr>
          <a:lstStyle/>
          <a:p>
            <a:pPr marL="0" lvl="0" indent="0" algn="l" rtl="0">
              <a:spcBef>
                <a:spcPts val="1200"/>
              </a:spcBef>
              <a:spcAft>
                <a:spcPts val="1200"/>
              </a:spcAft>
              <a:buNone/>
            </a:pPr>
            <a:r>
              <a:rPr lang="fr-FR" dirty="0"/>
              <a:t>Traitements et analyse de données : </a:t>
            </a:r>
          </a:p>
          <a:p>
            <a:pPr marL="0" lvl="0" indent="0" algn="l" rtl="0">
              <a:spcBef>
                <a:spcPts val="1200"/>
              </a:spcBef>
              <a:spcAft>
                <a:spcPts val="1200"/>
              </a:spcAft>
              <a:buNone/>
            </a:pPr>
            <a:endParaRPr dirty="0"/>
          </a:p>
        </p:txBody>
      </p:sp>
      <p:pic>
        <p:nvPicPr>
          <p:cNvPr id="3" name="Image 2">
            <a:extLst>
              <a:ext uri="{FF2B5EF4-FFF2-40B4-BE49-F238E27FC236}">
                <a16:creationId xmlns:a16="http://schemas.microsoft.com/office/drawing/2014/main" id="{88F43E6B-BD43-1DC2-9C30-568B592B6FD5}"/>
              </a:ext>
            </a:extLst>
          </p:cNvPr>
          <p:cNvPicPr>
            <a:picLocks noChangeAspect="1"/>
          </p:cNvPicPr>
          <p:nvPr/>
        </p:nvPicPr>
        <p:blipFill>
          <a:blip r:embed="rId3"/>
          <a:stretch>
            <a:fillRect/>
          </a:stretch>
        </p:blipFill>
        <p:spPr>
          <a:xfrm>
            <a:off x="480314" y="1996856"/>
            <a:ext cx="4030726" cy="1723228"/>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a:extLst>
              <a:ext uri="{FF2B5EF4-FFF2-40B4-BE49-F238E27FC236}">
                <a16:creationId xmlns:a16="http://schemas.microsoft.com/office/drawing/2014/main" id="{4167BDB7-5717-C44B-7670-9C1869A0E55E}"/>
              </a:ext>
            </a:extLst>
          </p:cNvPr>
          <p:cNvPicPr>
            <a:picLocks noChangeAspect="1"/>
          </p:cNvPicPr>
          <p:nvPr/>
        </p:nvPicPr>
        <p:blipFill>
          <a:blip r:embed="rId4"/>
          <a:stretch>
            <a:fillRect/>
          </a:stretch>
        </p:blipFill>
        <p:spPr>
          <a:xfrm>
            <a:off x="7070283" y="3490930"/>
            <a:ext cx="1461559" cy="1610422"/>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pic>
        <p:nvPicPr>
          <p:cNvPr id="7" name="Image 6">
            <a:extLst>
              <a:ext uri="{FF2B5EF4-FFF2-40B4-BE49-F238E27FC236}">
                <a16:creationId xmlns:a16="http://schemas.microsoft.com/office/drawing/2014/main" id="{973B8EAC-B3CE-EB43-2877-5C1E9D111751}"/>
              </a:ext>
            </a:extLst>
          </p:cNvPr>
          <p:cNvPicPr>
            <a:picLocks noChangeAspect="1"/>
          </p:cNvPicPr>
          <p:nvPr/>
        </p:nvPicPr>
        <p:blipFill>
          <a:blip r:embed="rId5"/>
          <a:stretch>
            <a:fillRect/>
          </a:stretch>
        </p:blipFill>
        <p:spPr>
          <a:xfrm>
            <a:off x="4707486" y="2027336"/>
            <a:ext cx="4224773" cy="670803"/>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pic>
        <p:nvPicPr>
          <p:cNvPr id="9" name="Image 8">
            <a:extLst>
              <a:ext uri="{FF2B5EF4-FFF2-40B4-BE49-F238E27FC236}">
                <a16:creationId xmlns:a16="http://schemas.microsoft.com/office/drawing/2014/main" id="{77983BB2-5352-08A9-3D08-6384DCB98E89}"/>
              </a:ext>
            </a:extLst>
          </p:cNvPr>
          <p:cNvPicPr>
            <a:picLocks noChangeAspect="1"/>
          </p:cNvPicPr>
          <p:nvPr/>
        </p:nvPicPr>
        <p:blipFill>
          <a:blip r:embed="rId6"/>
          <a:stretch>
            <a:fillRect/>
          </a:stretch>
        </p:blipFill>
        <p:spPr>
          <a:xfrm>
            <a:off x="509907" y="3920585"/>
            <a:ext cx="4981048" cy="598347"/>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pic>
        <p:nvPicPr>
          <p:cNvPr id="11" name="Image 10">
            <a:extLst>
              <a:ext uri="{FF2B5EF4-FFF2-40B4-BE49-F238E27FC236}">
                <a16:creationId xmlns:a16="http://schemas.microsoft.com/office/drawing/2014/main" id="{CAF2490F-BDCE-C570-FD05-9164DB925442}"/>
              </a:ext>
            </a:extLst>
          </p:cNvPr>
          <p:cNvPicPr>
            <a:picLocks noChangeAspect="1"/>
          </p:cNvPicPr>
          <p:nvPr/>
        </p:nvPicPr>
        <p:blipFill>
          <a:blip r:embed="rId7"/>
          <a:stretch>
            <a:fillRect/>
          </a:stretch>
        </p:blipFill>
        <p:spPr>
          <a:xfrm>
            <a:off x="4572000" y="2991963"/>
            <a:ext cx="4450787" cy="415185"/>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sp>
        <p:nvSpPr>
          <p:cNvPr id="2" name="Ellipse 1">
            <a:extLst>
              <a:ext uri="{FF2B5EF4-FFF2-40B4-BE49-F238E27FC236}">
                <a16:creationId xmlns:a16="http://schemas.microsoft.com/office/drawing/2014/main" id="{D3B1768B-BAFD-0937-5E66-3E76533D91D3}"/>
              </a:ext>
            </a:extLst>
          </p:cNvPr>
          <p:cNvSpPr/>
          <p:nvPr/>
        </p:nvSpPr>
        <p:spPr>
          <a:xfrm>
            <a:off x="470557" y="1631870"/>
            <a:ext cx="329610" cy="3330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1</a:t>
            </a:r>
          </a:p>
        </p:txBody>
      </p:sp>
      <p:sp>
        <p:nvSpPr>
          <p:cNvPr id="4" name="Ellipse 3">
            <a:extLst>
              <a:ext uri="{FF2B5EF4-FFF2-40B4-BE49-F238E27FC236}">
                <a16:creationId xmlns:a16="http://schemas.microsoft.com/office/drawing/2014/main" id="{80DF1975-A96E-3476-960D-053D14BDC5BD}"/>
              </a:ext>
            </a:extLst>
          </p:cNvPr>
          <p:cNvSpPr/>
          <p:nvPr/>
        </p:nvSpPr>
        <p:spPr>
          <a:xfrm>
            <a:off x="8555663" y="3504964"/>
            <a:ext cx="329610" cy="3178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2</a:t>
            </a:r>
          </a:p>
        </p:txBody>
      </p:sp>
      <p:sp>
        <p:nvSpPr>
          <p:cNvPr id="6" name="Rectangle 5">
            <a:extLst>
              <a:ext uri="{FF2B5EF4-FFF2-40B4-BE49-F238E27FC236}">
                <a16:creationId xmlns:a16="http://schemas.microsoft.com/office/drawing/2014/main" id="{4C39BE2C-F024-0BDA-1678-A3B697748368}"/>
              </a:ext>
            </a:extLst>
          </p:cNvPr>
          <p:cNvSpPr/>
          <p:nvPr/>
        </p:nvSpPr>
        <p:spPr>
          <a:xfrm>
            <a:off x="480314" y="2933700"/>
            <a:ext cx="2064766" cy="121082"/>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sp>
        <p:nvSpPr>
          <p:cNvPr id="8" name="Ellipse 7">
            <a:extLst>
              <a:ext uri="{FF2B5EF4-FFF2-40B4-BE49-F238E27FC236}">
                <a16:creationId xmlns:a16="http://schemas.microsoft.com/office/drawing/2014/main" id="{7BF532C6-C51F-66C0-F22B-0EE8C26A9DA7}"/>
              </a:ext>
            </a:extLst>
          </p:cNvPr>
          <p:cNvSpPr/>
          <p:nvPr/>
        </p:nvSpPr>
        <p:spPr>
          <a:xfrm>
            <a:off x="8645534" y="1662349"/>
            <a:ext cx="329610" cy="3330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3</a:t>
            </a:r>
          </a:p>
        </p:txBody>
      </p:sp>
      <p:sp>
        <p:nvSpPr>
          <p:cNvPr id="10" name="Ellipse 9">
            <a:extLst>
              <a:ext uri="{FF2B5EF4-FFF2-40B4-BE49-F238E27FC236}">
                <a16:creationId xmlns:a16="http://schemas.microsoft.com/office/drawing/2014/main" id="{30149948-3737-2EC7-4555-FB9C62C67662}"/>
              </a:ext>
            </a:extLst>
          </p:cNvPr>
          <p:cNvSpPr/>
          <p:nvPr/>
        </p:nvSpPr>
        <p:spPr>
          <a:xfrm>
            <a:off x="5196389" y="3568802"/>
            <a:ext cx="329610" cy="3330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4</a:t>
            </a:r>
          </a:p>
        </p:txBody>
      </p:sp>
      <p:sp>
        <p:nvSpPr>
          <p:cNvPr id="12" name="Ellipse 11">
            <a:extLst>
              <a:ext uri="{FF2B5EF4-FFF2-40B4-BE49-F238E27FC236}">
                <a16:creationId xmlns:a16="http://schemas.microsoft.com/office/drawing/2014/main" id="{2FBC3862-57AB-E160-CFA7-39BA2AF76571}"/>
              </a:ext>
            </a:extLst>
          </p:cNvPr>
          <p:cNvSpPr/>
          <p:nvPr/>
        </p:nvSpPr>
        <p:spPr>
          <a:xfrm>
            <a:off x="8885273" y="2663787"/>
            <a:ext cx="329610" cy="3330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5</a:t>
            </a:r>
          </a:p>
        </p:txBody>
      </p:sp>
      <p:sp>
        <p:nvSpPr>
          <p:cNvPr id="13" name="Rectangle 12">
            <a:extLst>
              <a:ext uri="{FF2B5EF4-FFF2-40B4-BE49-F238E27FC236}">
                <a16:creationId xmlns:a16="http://schemas.microsoft.com/office/drawing/2014/main" id="{8F4AD273-AE54-46D1-8CE2-ED7429ED49E8}"/>
              </a:ext>
            </a:extLst>
          </p:cNvPr>
          <p:cNvSpPr/>
          <p:nvPr/>
        </p:nvSpPr>
        <p:spPr>
          <a:xfrm>
            <a:off x="4700102" y="2497315"/>
            <a:ext cx="2973237" cy="146826"/>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sp>
        <p:nvSpPr>
          <p:cNvPr id="14" name="Rectangle 13">
            <a:extLst>
              <a:ext uri="{FF2B5EF4-FFF2-40B4-BE49-F238E27FC236}">
                <a16:creationId xmlns:a16="http://schemas.microsoft.com/office/drawing/2014/main" id="{BE9640F5-F458-D0B6-F389-6AEDAEEC7D63}"/>
              </a:ext>
            </a:extLst>
          </p:cNvPr>
          <p:cNvSpPr/>
          <p:nvPr/>
        </p:nvSpPr>
        <p:spPr>
          <a:xfrm>
            <a:off x="8106602" y="3853029"/>
            <a:ext cx="223143" cy="1136286"/>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sp>
        <p:nvSpPr>
          <p:cNvPr id="15" name="Rectangle 14">
            <a:extLst>
              <a:ext uri="{FF2B5EF4-FFF2-40B4-BE49-F238E27FC236}">
                <a16:creationId xmlns:a16="http://schemas.microsoft.com/office/drawing/2014/main" id="{E5DBAABC-1A36-D7F0-3E47-49C86DFF4125}"/>
              </a:ext>
            </a:extLst>
          </p:cNvPr>
          <p:cNvSpPr/>
          <p:nvPr/>
        </p:nvSpPr>
        <p:spPr>
          <a:xfrm>
            <a:off x="3456669" y="3930920"/>
            <a:ext cx="452391" cy="134809"/>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sp>
        <p:nvSpPr>
          <p:cNvPr id="16" name="Rectangle 15">
            <a:extLst>
              <a:ext uri="{FF2B5EF4-FFF2-40B4-BE49-F238E27FC236}">
                <a16:creationId xmlns:a16="http://schemas.microsoft.com/office/drawing/2014/main" id="{18FCABFC-AE6C-76FC-6B3B-8439EBAF383D}"/>
              </a:ext>
            </a:extLst>
          </p:cNvPr>
          <p:cNvSpPr/>
          <p:nvPr/>
        </p:nvSpPr>
        <p:spPr>
          <a:xfrm>
            <a:off x="4760651" y="4064422"/>
            <a:ext cx="452391" cy="134809"/>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sp>
        <p:nvSpPr>
          <p:cNvPr id="17" name="Rectangle 16">
            <a:extLst>
              <a:ext uri="{FF2B5EF4-FFF2-40B4-BE49-F238E27FC236}">
                <a16:creationId xmlns:a16="http://schemas.microsoft.com/office/drawing/2014/main" id="{4269348E-9386-B8A4-6BB2-8DD0070BBEB2}"/>
              </a:ext>
            </a:extLst>
          </p:cNvPr>
          <p:cNvSpPr/>
          <p:nvPr/>
        </p:nvSpPr>
        <p:spPr>
          <a:xfrm>
            <a:off x="5094765" y="4199231"/>
            <a:ext cx="452391" cy="134809"/>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sp>
        <p:nvSpPr>
          <p:cNvPr id="18" name="Rectangle 17">
            <a:extLst>
              <a:ext uri="{FF2B5EF4-FFF2-40B4-BE49-F238E27FC236}">
                <a16:creationId xmlns:a16="http://schemas.microsoft.com/office/drawing/2014/main" id="{F6794B29-6F5B-670A-190E-32D1B7309C8C}"/>
              </a:ext>
            </a:extLst>
          </p:cNvPr>
          <p:cNvSpPr/>
          <p:nvPr/>
        </p:nvSpPr>
        <p:spPr>
          <a:xfrm>
            <a:off x="8287154" y="2982229"/>
            <a:ext cx="729116" cy="352361"/>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pic>
        <p:nvPicPr>
          <p:cNvPr id="19" name="Image 18">
            <a:extLst>
              <a:ext uri="{FF2B5EF4-FFF2-40B4-BE49-F238E27FC236}">
                <a16:creationId xmlns:a16="http://schemas.microsoft.com/office/drawing/2014/main" id="{D8F32447-DC2D-8507-E6A4-4498122F1FAC}"/>
              </a:ext>
            </a:extLst>
          </p:cNvPr>
          <p:cNvPicPr>
            <a:picLocks noChangeAspect="1"/>
          </p:cNvPicPr>
          <p:nvPr/>
        </p:nvPicPr>
        <p:blipFill>
          <a:blip r:embed="rId8"/>
          <a:stretch>
            <a:fillRect/>
          </a:stretch>
        </p:blipFill>
        <p:spPr>
          <a:xfrm>
            <a:off x="386111" y="4594970"/>
            <a:ext cx="5734850" cy="495369"/>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sp>
        <p:nvSpPr>
          <p:cNvPr id="20" name="Ellipse 19">
            <a:extLst>
              <a:ext uri="{FF2B5EF4-FFF2-40B4-BE49-F238E27FC236}">
                <a16:creationId xmlns:a16="http://schemas.microsoft.com/office/drawing/2014/main" id="{A399FA49-9EE7-2ADF-E012-82336E08B0D3}"/>
              </a:ext>
            </a:extLst>
          </p:cNvPr>
          <p:cNvSpPr/>
          <p:nvPr/>
        </p:nvSpPr>
        <p:spPr>
          <a:xfrm>
            <a:off x="6057205" y="4308909"/>
            <a:ext cx="329610" cy="3330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6</a:t>
            </a:r>
          </a:p>
        </p:txBody>
      </p:sp>
      <p:sp>
        <p:nvSpPr>
          <p:cNvPr id="21" name="Rectangle 20">
            <a:extLst>
              <a:ext uri="{FF2B5EF4-FFF2-40B4-BE49-F238E27FC236}">
                <a16:creationId xmlns:a16="http://schemas.microsoft.com/office/drawing/2014/main" id="{4DE6211D-6E35-0EA5-EE76-F6A7DEF2B01E}"/>
              </a:ext>
            </a:extLst>
          </p:cNvPr>
          <p:cNvSpPr/>
          <p:nvPr/>
        </p:nvSpPr>
        <p:spPr>
          <a:xfrm>
            <a:off x="964725" y="4797374"/>
            <a:ext cx="810735" cy="268692"/>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7650" y="605575"/>
            <a:ext cx="7688700" cy="535200"/>
          </a:xfrm>
          <a:prstGeom prst="rect">
            <a:avLst/>
          </a:prstGeom>
        </p:spPr>
        <p:txBody>
          <a:bodyPr spcFirstLastPara="1" wrap="square" lIns="91425" tIns="91425" rIns="91425" bIns="91425" anchor="t" anchorCtr="0">
            <a:noAutofit/>
          </a:bodyPr>
          <a:lstStyle/>
          <a:p>
            <a:pPr marL="457200" lvl="0" indent="-415290" algn="l" rtl="0">
              <a:spcBef>
                <a:spcPts val="0"/>
              </a:spcBef>
              <a:spcAft>
                <a:spcPts val="0"/>
              </a:spcAft>
              <a:buSzPts val="2940"/>
              <a:buFont typeface="Montserrat"/>
              <a:buAutoNum type="romanUcPeriod"/>
            </a:pPr>
            <a:r>
              <a:rPr lang="fr" sz="2940" dirty="0">
                <a:latin typeface="Montserrat"/>
                <a:ea typeface="Montserrat"/>
                <a:cs typeface="Montserrat"/>
                <a:sym typeface="Montserrat"/>
              </a:rPr>
              <a:t>Analyse du marché de l’immobilier</a:t>
            </a:r>
            <a:endParaRPr sz="2520" dirty="0"/>
          </a:p>
        </p:txBody>
      </p:sp>
      <p:sp>
        <p:nvSpPr>
          <p:cNvPr id="99" name="Google Shape;99;p15"/>
          <p:cNvSpPr txBox="1">
            <a:spLocks noGrp="1"/>
          </p:cNvSpPr>
          <p:nvPr>
            <p:ph type="body" idx="1"/>
          </p:nvPr>
        </p:nvSpPr>
        <p:spPr>
          <a:xfrm>
            <a:off x="729450" y="1341815"/>
            <a:ext cx="7688700" cy="2937300"/>
          </a:xfrm>
          <a:prstGeom prst="rect">
            <a:avLst/>
          </a:prstGeom>
        </p:spPr>
        <p:txBody>
          <a:bodyPr spcFirstLastPara="1" wrap="square" lIns="91425" tIns="91425" rIns="91425" bIns="91425" anchor="t" anchorCtr="0">
            <a:normAutofit/>
          </a:bodyPr>
          <a:lstStyle/>
          <a:p>
            <a:pPr marL="0" indent="0">
              <a:spcAft>
                <a:spcPts val="1200"/>
              </a:spcAft>
              <a:buNone/>
            </a:pPr>
            <a:r>
              <a:rPr lang="fr-FR" b="1" dirty="0"/>
              <a:t>Différences de prix au mètre carré entre les arrondissements et par an :</a:t>
            </a:r>
          </a:p>
          <a:p>
            <a:pPr marL="0" lvl="0" indent="0" algn="l" rtl="0">
              <a:spcBef>
                <a:spcPts val="0"/>
              </a:spcBef>
              <a:spcAft>
                <a:spcPts val="1200"/>
              </a:spcAft>
              <a:buNone/>
            </a:pPr>
            <a:endParaRPr i="1" dirty="0">
              <a:latin typeface="Montserrat"/>
              <a:ea typeface="Montserrat"/>
              <a:cs typeface="Montserrat"/>
              <a:sym typeface="Montserrat"/>
            </a:endParaRPr>
          </a:p>
        </p:txBody>
      </p:sp>
      <p:pic>
        <p:nvPicPr>
          <p:cNvPr id="3" name="Image 2">
            <a:extLst>
              <a:ext uri="{FF2B5EF4-FFF2-40B4-BE49-F238E27FC236}">
                <a16:creationId xmlns:a16="http://schemas.microsoft.com/office/drawing/2014/main" id="{A9DCD7D5-1BE6-B4A5-8FD8-ADD4AF3893F9}"/>
              </a:ext>
            </a:extLst>
          </p:cNvPr>
          <p:cNvPicPr>
            <a:picLocks noChangeAspect="1"/>
          </p:cNvPicPr>
          <p:nvPr/>
        </p:nvPicPr>
        <p:blipFill>
          <a:blip r:embed="rId3"/>
          <a:stretch>
            <a:fillRect/>
          </a:stretch>
        </p:blipFill>
        <p:spPr>
          <a:xfrm>
            <a:off x="8553" y="2171700"/>
            <a:ext cx="3953847" cy="2366225"/>
          </a:xfrm>
          <a:prstGeom prst="rect">
            <a:avLst/>
          </a:prstGeom>
        </p:spPr>
      </p:pic>
      <p:pic>
        <p:nvPicPr>
          <p:cNvPr id="5" name="Image 4">
            <a:extLst>
              <a:ext uri="{FF2B5EF4-FFF2-40B4-BE49-F238E27FC236}">
                <a16:creationId xmlns:a16="http://schemas.microsoft.com/office/drawing/2014/main" id="{8B84F2B0-D55B-157F-5948-6446CFFC1063}"/>
              </a:ext>
            </a:extLst>
          </p:cNvPr>
          <p:cNvPicPr>
            <a:picLocks noChangeAspect="1"/>
          </p:cNvPicPr>
          <p:nvPr/>
        </p:nvPicPr>
        <p:blipFill>
          <a:blip r:embed="rId4"/>
          <a:stretch>
            <a:fillRect/>
          </a:stretch>
        </p:blipFill>
        <p:spPr>
          <a:xfrm>
            <a:off x="3962400" y="1834951"/>
            <a:ext cx="5077526" cy="33085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1EFC46-CAD9-11A8-C99C-334421E4889D}"/>
              </a:ext>
            </a:extLst>
          </p:cNvPr>
          <p:cNvSpPr>
            <a:spLocks noGrp="1"/>
          </p:cNvSpPr>
          <p:nvPr>
            <p:ph type="title"/>
          </p:nvPr>
        </p:nvSpPr>
        <p:spPr>
          <a:xfrm>
            <a:off x="714210" y="613426"/>
            <a:ext cx="7688700" cy="535200"/>
          </a:xfrm>
        </p:spPr>
        <p:txBody>
          <a:bodyPr>
            <a:normAutofit fontScale="90000"/>
          </a:bodyPr>
          <a:lstStyle/>
          <a:p>
            <a:pPr marL="571500" indent="-571500">
              <a:buFont typeface="+mj-lt"/>
              <a:buAutoNum type="romanUcPeriod"/>
            </a:pPr>
            <a:r>
              <a:rPr lang="fr" sz="2800" dirty="0">
                <a:latin typeface="Montserrat"/>
                <a:ea typeface="Montserrat"/>
                <a:cs typeface="Montserrat"/>
                <a:sym typeface="Montserrat"/>
              </a:rPr>
              <a:t>Analyse du marché de l’immobilier</a:t>
            </a:r>
            <a:endParaRPr lang="fr-FR" dirty="0"/>
          </a:p>
        </p:txBody>
      </p:sp>
      <p:pic>
        <p:nvPicPr>
          <p:cNvPr id="5" name="Image 4">
            <a:extLst>
              <a:ext uri="{FF2B5EF4-FFF2-40B4-BE49-F238E27FC236}">
                <a16:creationId xmlns:a16="http://schemas.microsoft.com/office/drawing/2014/main" id="{03D38CB3-F322-269E-034D-AE4164EDC5F2}"/>
              </a:ext>
            </a:extLst>
          </p:cNvPr>
          <p:cNvPicPr>
            <a:picLocks noChangeAspect="1"/>
          </p:cNvPicPr>
          <p:nvPr/>
        </p:nvPicPr>
        <p:blipFill>
          <a:blip r:embed="rId3"/>
          <a:stretch>
            <a:fillRect/>
          </a:stretch>
        </p:blipFill>
        <p:spPr>
          <a:xfrm>
            <a:off x="2575560" y="1880867"/>
            <a:ext cx="4716780" cy="2430045"/>
          </a:xfrm>
          <a:prstGeom prst="rect">
            <a:avLst/>
          </a:prstGeom>
        </p:spPr>
      </p:pic>
      <p:sp>
        <p:nvSpPr>
          <p:cNvPr id="3" name="Google Shape;99;p15">
            <a:extLst>
              <a:ext uri="{FF2B5EF4-FFF2-40B4-BE49-F238E27FC236}">
                <a16:creationId xmlns:a16="http://schemas.microsoft.com/office/drawing/2014/main" id="{B68938F5-EB9C-52CA-9820-F0FB7186BBD9}"/>
              </a:ext>
            </a:extLst>
          </p:cNvPr>
          <p:cNvSpPr txBox="1">
            <a:spLocks noGrp="1"/>
          </p:cNvSpPr>
          <p:nvPr>
            <p:ph type="body" idx="1"/>
          </p:nvPr>
        </p:nvSpPr>
        <p:spPr>
          <a:xfrm>
            <a:off x="729450" y="1242755"/>
            <a:ext cx="7688700" cy="2937300"/>
          </a:xfrm>
          <a:prstGeom prst="rect">
            <a:avLst/>
          </a:prstGeom>
        </p:spPr>
        <p:txBody>
          <a:bodyPr spcFirstLastPara="1" wrap="square" lIns="91425" tIns="91425" rIns="91425" bIns="91425" anchor="t" anchorCtr="0">
            <a:normAutofit/>
          </a:bodyPr>
          <a:lstStyle/>
          <a:p>
            <a:pPr marL="0" indent="0">
              <a:spcAft>
                <a:spcPts val="1200"/>
              </a:spcAft>
              <a:buNone/>
            </a:pPr>
            <a:r>
              <a:rPr lang="fr-FR" b="1" dirty="0"/>
              <a:t>Analyse du 6ème arrondissement :</a:t>
            </a:r>
          </a:p>
          <a:p>
            <a:pPr marL="0" indent="0">
              <a:spcAft>
                <a:spcPts val="1200"/>
              </a:spcAft>
              <a:buNone/>
            </a:pPr>
            <a:r>
              <a:rPr lang="fr-FR" sz="900" b="1" dirty="0"/>
              <a:t>=&gt; Nombre de transactions dans le 6ème arrondissement : 709 </a:t>
            </a:r>
          </a:p>
          <a:p>
            <a:pPr marL="0" indent="0">
              <a:spcAft>
                <a:spcPts val="1200"/>
              </a:spcAft>
              <a:buNone/>
            </a:pPr>
            <a:endParaRPr lang="fr-FR" b="1" dirty="0"/>
          </a:p>
          <a:p>
            <a:pPr marL="0" lvl="0" indent="0" algn="l" rtl="0">
              <a:spcBef>
                <a:spcPts val="0"/>
              </a:spcBef>
              <a:spcAft>
                <a:spcPts val="1200"/>
              </a:spcAft>
              <a:buNone/>
            </a:pPr>
            <a:endParaRPr i="1" dirty="0">
              <a:latin typeface="Montserrat"/>
              <a:ea typeface="Montserrat"/>
              <a:cs typeface="Montserrat"/>
              <a:sym typeface="Montserrat"/>
            </a:endParaRPr>
          </a:p>
        </p:txBody>
      </p:sp>
      <p:sp>
        <p:nvSpPr>
          <p:cNvPr id="10" name="ZoneTexte 9">
            <a:extLst>
              <a:ext uri="{FF2B5EF4-FFF2-40B4-BE49-F238E27FC236}">
                <a16:creationId xmlns:a16="http://schemas.microsoft.com/office/drawing/2014/main" id="{04DD87F0-D8D1-6FFE-1AF6-A918F1A09EC2}"/>
              </a:ext>
            </a:extLst>
          </p:cNvPr>
          <p:cNvSpPr txBox="1"/>
          <p:nvPr/>
        </p:nvSpPr>
        <p:spPr>
          <a:xfrm>
            <a:off x="201930" y="4114799"/>
            <a:ext cx="8740139" cy="948978"/>
          </a:xfrm>
          <a:prstGeom prst="rect">
            <a:avLst/>
          </a:prstGeom>
          <a:noFill/>
        </p:spPr>
        <p:txBody>
          <a:bodyPr wrap="square">
            <a:spAutoFit/>
          </a:bodyPr>
          <a:lstStyle/>
          <a:p>
            <a:pPr algn="l">
              <a:buNone/>
            </a:pPr>
            <a:r>
              <a:rPr lang="fr-FR" sz="1050" b="0" i="0" dirty="0">
                <a:solidFill>
                  <a:srgbClr val="000000"/>
                </a:solidFill>
                <a:effectLst/>
                <a:latin typeface="Helvetica Neue"/>
              </a:rPr>
              <a:t>On observe que ?</a:t>
            </a:r>
          </a:p>
          <a:p>
            <a:pPr algn="l">
              <a:spcAft>
                <a:spcPts val="675"/>
              </a:spcAft>
              <a:buFont typeface="Arial" panose="020B0604020202020204" pitchFamily="34" charset="0"/>
              <a:buChar char="•"/>
            </a:pPr>
            <a:r>
              <a:rPr lang="fr-FR" sz="1050" b="0" i="0" dirty="0">
                <a:solidFill>
                  <a:srgbClr val="000000"/>
                </a:solidFill>
                <a:effectLst/>
                <a:latin typeface="Helvetica Neue"/>
              </a:rPr>
              <a:t> Des points très haut = ventes très chères (souvent bien de luxe ou erreur de saisie)</a:t>
            </a:r>
          </a:p>
          <a:p>
            <a:pPr algn="l">
              <a:spcAft>
                <a:spcPts val="675"/>
              </a:spcAft>
              <a:buFont typeface="Arial" panose="020B0604020202020204" pitchFamily="34" charset="0"/>
              <a:buChar char="•"/>
            </a:pPr>
            <a:r>
              <a:rPr lang="fr-FR" sz="1050" b="0" i="0" dirty="0">
                <a:solidFill>
                  <a:srgbClr val="000000"/>
                </a:solidFill>
                <a:effectLst/>
                <a:latin typeface="Helvetica Neue"/>
              </a:rPr>
              <a:t> Des zones avec beaucoup de points serrés =&gt; période avec beaucoup de ventes</a:t>
            </a:r>
          </a:p>
          <a:p>
            <a:pPr algn="l">
              <a:spcAft>
                <a:spcPts val="675"/>
              </a:spcAft>
              <a:buFont typeface="Arial" panose="020B0604020202020204" pitchFamily="34" charset="0"/>
              <a:buChar char="•"/>
            </a:pPr>
            <a:r>
              <a:rPr lang="fr-FR" sz="1050" b="0" i="0" dirty="0">
                <a:solidFill>
                  <a:srgbClr val="000000"/>
                </a:solidFill>
                <a:effectLst/>
                <a:latin typeface="Helvetica Neue"/>
              </a:rPr>
              <a:t> Des trous =&gt; peut signaler un manque de données ou une période creuse (ex : confinement en 2020)</a:t>
            </a:r>
          </a:p>
        </p:txBody>
      </p:sp>
    </p:spTree>
    <p:extLst>
      <p:ext uri="{BB962C8B-B14F-4D97-AF65-F5344CB8AC3E}">
        <p14:creationId xmlns:p14="http://schemas.microsoft.com/office/powerpoint/2010/main" val="1115271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48ADBF-8DAD-E042-0FCB-4B6A598327DD}"/>
              </a:ext>
            </a:extLst>
          </p:cNvPr>
          <p:cNvSpPr>
            <a:spLocks noGrp="1"/>
          </p:cNvSpPr>
          <p:nvPr>
            <p:ph type="title"/>
          </p:nvPr>
        </p:nvSpPr>
        <p:spPr>
          <a:xfrm>
            <a:off x="630390" y="627312"/>
            <a:ext cx="8757450" cy="535200"/>
          </a:xfrm>
        </p:spPr>
        <p:txBody>
          <a:bodyPr>
            <a:normAutofit fontScale="90000"/>
          </a:bodyPr>
          <a:lstStyle/>
          <a:p>
            <a:r>
              <a:rPr lang="fr-FR" dirty="0"/>
              <a:t>Vérification de la relation entre le prix au m² et les variables</a:t>
            </a:r>
            <a:br>
              <a:rPr lang="fr-FR" dirty="0"/>
            </a:br>
            <a:endParaRPr lang="fr-FR" dirty="0"/>
          </a:p>
        </p:txBody>
      </p:sp>
      <p:sp>
        <p:nvSpPr>
          <p:cNvPr id="3" name="Espace réservé du texte 2">
            <a:extLst>
              <a:ext uri="{FF2B5EF4-FFF2-40B4-BE49-F238E27FC236}">
                <a16:creationId xmlns:a16="http://schemas.microsoft.com/office/drawing/2014/main" id="{16FD1364-96A3-CD60-EE02-C967DDBCEC16}"/>
              </a:ext>
            </a:extLst>
          </p:cNvPr>
          <p:cNvSpPr>
            <a:spLocks noGrp="1"/>
          </p:cNvSpPr>
          <p:nvPr>
            <p:ph type="body" idx="1"/>
          </p:nvPr>
        </p:nvSpPr>
        <p:spPr>
          <a:xfrm>
            <a:off x="790410" y="1441200"/>
            <a:ext cx="7688700" cy="2261100"/>
          </a:xfrm>
        </p:spPr>
        <p:txBody>
          <a:bodyPr/>
          <a:lstStyle/>
          <a:p>
            <a:endParaRPr lang="fr-FR" dirty="0"/>
          </a:p>
        </p:txBody>
      </p:sp>
      <p:pic>
        <p:nvPicPr>
          <p:cNvPr id="9" name="Image 8">
            <a:extLst>
              <a:ext uri="{FF2B5EF4-FFF2-40B4-BE49-F238E27FC236}">
                <a16:creationId xmlns:a16="http://schemas.microsoft.com/office/drawing/2014/main" id="{534F67D7-3C14-91B1-90A8-F04087E4C3CE}"/>
              </a:ext>
            </a:extLst>
          </p:cNvPr>
          <p:cNvPicPr>
            <a:picLocks noChangeAspect="1"/>
          </p:cNvPicPr>
          <p:nvPr/>
        </p:nvPicPr>
        <p:blipFill>
          <a:blip r:embed="rId2"/>
          <a:stretch>
            <a:fillRect/>
          </a:stretch>
        </p:blipFill>
        <p:spPr>
          <a:xfrm>
            <a:off x="390701" y="3536125"/>
            <a:ext cx="4974483" cy="864695"/>
          </a:xfrm>
          <a:prstGeom prst="rect">
            <a:avLst/>
          </a:prstGeom>
        </p:spPr>
      </p:pic>
      <p:pic>
        <p:nvPicPr>
          <p:cNvPr id="7" name="Image 6">
            <a:extLst>
              <a:ext uri="{FF2B5EF4-FFF2-40B4-BE49-F238E27FC236}">
                <a16:creationId xmlns:a16="http://schemas.microsoft.com/office/drawing/2014/main" id="{EAAD9D61-4CBC-1A0E-C64A-9DDC35AD7651}"/>
              </a:ext>
            </a:extLst>
          </p:cNvPr>
          <p:cNvPicPr>
            <a:picLocks noChangeAspect="1"/>
          </p:cNvPicPr>
          <p:nvPr/>
        </p:nvPicPr>
        <p:blipFill>
          <a:blip r:embed="rId3"/>
          <a:stretch>
            <a:fillRect/>
          </a:stretch>
        </p:blipFill>
        <p:spPr>
          <a:xfrm>
            <a:off x="2746626" y="2558917"/>
            <a:ext cx="5237116" cy="864695"/>
          </a:xfrm>
          <a:prstGeom prst="rect">
            <a:avLst/>
          </a:prstGeom>
        </p:spPr>
      </p:pic>
    </p:spTree>
    <p:extLst>
      <p:ext uri="{BB962C8B-B14F-4D97-AF65-F5344CB8AC3E}">
        <p14:creationId xmlns:p14="http://schemas.microsoft.com/office/powerpoint/2010/main" val="3930270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E72E7A-0ECF-7356-54BE-5044760EE650}"/>
              </a:ext>
            </a:extLst>
          </p:cNvPr>
          <p:cNvSpPr>
            <a:spLocks noGrp="1"/>
          </p:cNvSpPr>
          <p:nvPr>
            <p:ph type="title"/>
          </p:nvPr>
        </p:nvSpPr>
        <p:spPr/>
        <p:txBody>
          <a:bodyPr>
            <a:normAutofit fontScale="90000"/>
          </a:bodyPr>
          <a:lstStyle/>
          <a:p>
            <a:pPr marL="514350" indent="-514350">
              <a:buFont typeface="+mj-lt"/>
              <a:buAutoNum type="romanUcPeriod"/>
            </a:pPr>
            <a:r>
              <a:rPr lang="fr" sz="2400" dirty="0">
                <a:latin typeface="Montserrat"/>
                <a:ea typeface="Montserrat"/>
                <a:cs typeface="Montserrat"/>
                <a:sym typeface="Montserrat"/>
              </a:rPr>
              <a:t>Analyse du marché de l’immobilier</a:t>
            </a:r>
            <a:endParaRPr lang="fr-FR" dirty="0"/>
          </a:p>
        </p:txBody>
      </p:sp>
      <p:pic>
        <p:nvPicPr>
          <p:cNvPr id="5" name="Image 4">
            <a:extLst>
              <a:ext uri="{FF2B5EF4-FFF2-40B4-BE49-F238E27FC236}">
                <a16:creationId xmlns:a16="http://schemas.microsoft.com/office/drawing/2014/main" id="{7640CF68-DB59-3CB1-249C-32539931A0E0}"/>
              </a:ext>
            </a:extLst>
          </p:cNvPr>
          <p:cNvPicPr>
            <a:picLocks noChangeAspect="1"/>
          </p:cNvPicPr>
          <p:nvPr/>
        </p:nvPicPr>
        <p:blipFill>
          <a:blip r:embed="rId2"/>
          <a:stretch>
            <a:fillRect/>
          </a:stretch>
        </p:blipFill>
        <p:spPr>
          <a:xfrm>
            <a:off x="419099" y="2026920"/>
            <a:ext cx="3216063" cy="2886333"/>
          </a:xfrm>
          <a:prstGeom prst="rect">
            <a:avLst/>
          </a:prstGeom>
        </p:spPr>
      </p:pic>
      <p:pic>
        <p:nvPicPr>
          <p:cNvPr id="7" name="Image 6">
            <a:extLst>
              <a:ext uri="{FF2B5EF4-FFF2-40B4-BE49-F238E27FC236}">
                <a16:creationId xmlns:a16="http://schemas.microsoft.com/office/drawing/2014/main" id="{2EC5C732-A3B6-1D88-32C9-9BF62847A486}"/>
              </a:ext>
            </a:extLst>
          </p:cNvPr>
          <p:cNvPicPr>
            <a:picLocks noChangeAspect="1"/>
          </p:cNvPicPr>
          <p:nvPr/>
        </p:nvPicPr>
        <p:blipFill>
          <a:blip r:embed="rId3"/>
          <a:stretch>
            <a:fillRect/>
          </a:stretch>
        </p:blipFill>
        <p:spPr>
          <a:xfrm>
            <a:off x="3532027" y="2571750"/>
            <a:ext cx="5451954" cy="1554480"/>
          </a:xfrm>
          <a:prstGeom prst="rect">
            <a:avLst/>
          </a:prstGeom>
        </p:spPr>
      </p:pic>
    </p:spTree>
    <p:extLst>
      <p:ext uri="{BB962C8B-B14F-4D97-AF65-F5344CB8AC3E}">
        <p14:creationId xmlns:p14="http://schemas.microsoft.com/office/powerpoint/2010/main" val="1008135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671000" y="640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sz="3300">
                <a:latin typeface="Montserrat"/>
                <a:ea typeface="Montserrat"/>
                <a:cs typeface="Montserrat"/>
                <a:sym typeface="Montserrat"/>
              </a:rPr>
              <a:t>III. Résultat des prédictions</a:t>
            </a:r>
            <a:endParaRPr sz="3300">
              <a:latin typeface="Montserrat"/>
              <a:ea typeface="Montserrat"/>
              <a:cs typeface="Montserrat"/>
              <a:sym typeface="Montserrat"/>
            </a:endParaRPr>
          </a:p>
          <a:p>
            <a:pPr marL="0" lvl="0" indent="0" algn="l" rtl="0">
              <a:spcBef>
                <a:spcPts val="0"/>
              </a:spcBef>
              <a:spcAft>
                <a:spcPts val="0"/>
              </a:spcAft>
              <a:buNone/>
            </a:pPr>
            <a:endParaRPr sz="3600"/>
          </a:p>
          <a:p>
            <a:pPr marL="0" lvl="0" indent="0" algn="l" rtl="0">
              <a:spcBef>
                <a:spcPts val="0"/>
              </a:spcBef>
              <a:spcAft>
                <a:spcPts val="0"/>
              </a:spcAft>
              <a:buNone/>
            </a:pPr>
            <a:endParaRPr sz="3600"/>
          </a:p>
          <a:p>
            <a:pPr marL="0" lvl="0" indent="0" algn="l" rtl="0">
              <a:spcBef>
                <a:spcPts val="0"/>
              </a:spcBef>
              <a:spcAft>
                <a:spcPts val="0"/>
              </a:spcAft>
              <a:buNone/>
            </a:pPr>
            <a:endParaRPr/>
          </a:p>
        </p:txBody>
      </p:sp>
      <p:pic>
        <p:nvPicPr>
          <p:cNvPr id="3" name="Image 2">
            <a:extLst>
              <a:ext uri="{FF2B5EF4-FFF2-40B4-BE49-F238E27FC236}">
                <a16:creationId xmlns:a16="http://schemas.microsoft.com/office/drawing/2014/main" id="{0B4B1631-48B8-06DF-4E94-2886B7AD5AA3}"/>
              </a:ext>
            </a:extLst>
          </p:cNvPr>
          <p:cNvPicPr>
            <a:picLocks noChangeAspect="1"/>
          </p:cNvPicPr>
          <p:nvPr/>
        </p:nvPicPr>
        <p:blipFill>
          <a:blip r:embed="rId3"/>
          <a:stretch>
            <a:fillRect/>
          </a:stretch>
        </p:blipFill>
        <p:spPr>
          <a:xfrm>
            <a:off x="671000" y="1678540"/>
            <a:ext cx="7833360" cy="1628110"/>
          </a:xfrm>
          <a:prstGeom prst="rect">
            <a:avLst/>
          </a:prstGeom>
        </p:spPr>
      </p:pic>
      <p:sp>
        <p:nvSpPr>
          <p:cNvPr id="5" name="ZoneTexte 4">
            <a:extLst>
              <a:ext uri="{FF2B5EF4-FFF2-40B4-BE49-F238E27FC236}">
                <a16:creationId xmlns:a16="http://schemas.microsoft.com/office/drawing/2014/main" id="{E146B984-98E1-A4D9-8CD6-72176C95F3DE}"/>
              </a:ext>
            </a:extLst>
          </p:cNvPr>
          <p:cNvSpPr txBox="1"/>
          <p:nvPr/>
        </p:nvSpPr>
        <p:spPr>
          <a:xfrm>
            <a:off x="937700" y="3809340"/>
            <a:ext cx="7566660" cy="646331"/>
          </a:xfrm>
          <a:prstGeom prst="rect">
            <a:avLst/>
          </a:prstGeom>
          <a:noFill/>
        </p:spPr>
        <p:txBody>
          <a:bodyPr wrap="square">
            <a:spAutoFit/>
          </a:bodyPr>
          <a:lstStyle/>
          <a:p>
            <a:r>
              <a:rPr lang="fr-FR" sz="1200" i="1" dirty="0">
                <a:solidFill>
                  <a:schemeClr val="accent1"/>
                </a:solidFill>
                <a:latin typeface="Montserrat"/>
                <a:sym typeface="Lato"/>
              </a:rPr>
              <a:t>Mes conclusions sur le segment avec la plus grande valorisation et sur les limites de cette estimation : la branche </a:t>
            </a:r>
            <a:r>
              <a:rPr lang="fr-FR" sz="1200" i="1" dirty="0" err="1">
                <a:solidFill>
                  <a:schemeClr val="accent1"/>
                </a:solidFill>
                <a:latin typeface="Montserrat"/>
                <a:sym typeface="Lato"/>
              </a:rPr>
              <a:t>qui,selon</a:t>
            </a:r>
            <a:r>
              <a:rPr lang="fr-FR" sz="1200" i="1" dirty="0">
                <a:solidFill>
                  <a:schemeClr val="accent1"/>
                </a:solidFill>
                <a:latin typeface="Montserrat"/>
                <a:sym typeface="Lato"/>
              </a:rPr>
              <a:t> notre prédiction, a le plus de valeur à la date demandée c'est à dire au 31 décembre 2022 est le segment </a:t>
            </a:r>
            <a:r>
              <a:rPr lang="fr-FR" sz="1200" i="1" dirty="0" err="1">
                <a:solidFill>
                  <a:schemeClr val="accent1"/>
                </a:solidFill>
                <a:latin typeface="Montserrat"/>
                <a:sym typeface="Lato"/>
              </a:rPr>
              <a:t>corporate</a:t>
            </a:r>
            <a:r>
              <a:rPr lang="fr-FR" sz="1200" i="1" dirty="0">
                <a:solidFill>
                  <a:schemeClr val="accent1"/>
                </a:solidFill>
                <a:latin typeface="Montserrat"/>
                <a:sym typeface="Lato"/>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Les Plus Beaux Logis de Paris</a:t>
            </a:r>
            <a:endParaRPr/>
          </a:p>
          <a:p>
            <a:pPr marL="0" lvl="0" indent="0" algn="l" rtl="0">
              <a:spcBef>
                <a:spcPts val="0"/>
              </a:spcBef>
              <a:spcAft>
                <a:spcPts val="0"/>
              </a:spcAft>
              <a:buNone/>
            </a:pPr>
            <a:r>
              <a:rPr lang="fr"/>
              <a:t>Partie 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727650" y="6172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3333"/>
              <a:buFont typeface="Arial"/>
              <a:buNone/>
            </a:pPr>
            <a:r>
              <a:rPr lang="fr" sz="3300">
                <a:latin typeface="Montserrat"/>
                <a:ea typeface="Montserrat"/>
                <a:cs typeface="Montserrat"/>
                <a:sym typeface="Montserrat"/>
              </a:rPr>
              <a:t>I. Méthodologie suivie </a:t>
            </a:r>
            <a:endParaRPr sz="3300">
              <a:latin typeface="Montserrat"/>
              <a:ea typeface="Montserrat"/>
              <a:cs typeface="Montserrat"/>
              <a:sym typeface="Montserrat"/>
            </a:endParaRPr>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None/>
            </a:pPr>
            <a:endParaRPr/>
          </a:p>
        </p:txBody>
      </p:sp>
      <p:sp>
        <p:nvSpPr>
          <p:cNvPr id="128" name="Google Shape;128;p20"/>
          <p:cNvSpPr txBox="1">
            <a:spLocks noGrp="1"/>
          </p:cNvSpPr>
          <p:nvPr>
            <p:ph type="body" idx="1"/>
          </p:nvPr>
        </p:nvSpPr>
        <p:spPr>
          <a:xfrm>
            <a:off x="729450" y="1437850"/>
            <a:ext cx="7688700" cy="2902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FR" i="1" dirty="0">
                <a:latin typeface="Montserrat"/>
                <a:ea typeface="Montserrat"/>
                <a:cs typeface="Montserrat"/>
                <a:sym typeface="Montserrat"/>
              </a:rPr>
              <a:t>Dans cette partie nous allons labelliser automatiquement les biens immobiliers comme étant :</a:t>
            </a:r>
          </a:p>
          <a:p>
            <a:pPr marL="0" lvl="0" indent="0" algn="l" rtl="0">
              <a:spcBef>
                <a:spcPts val="0"/>
              </a:spcBef>
              <a:spcAft>
                <a:spcPts val="0"/>
              </a:spcAft>
              <a:buNone/>
            </a:pPr>
            <a:r>
              <a:rPr lang="fr-FR" i="1" dirty="0">
                <a:latin typeface="Montserrat"/>
                <a:ea typeface="Montserrat"/>
                <a:cs typeface="Montserrat"/>
                <a:sym typeface="Montserrat"/>
              </a:rPr>
              <a:t>- soit des Appartements</a:t>
            </a:r>
          </a:p>
          <a:p>
            <a:pPr marL="285750" lvl="0" indent="-285750" algn="l" rtl="0">
              <a:spcBef>
                <a:spcPts val="0"/>
              </a:spcBef>
              <a:spcAft>
                <a:spcPts val="0"/>
              </a:spcAft>
              <a:buFontTx/>
              <a:buChar char="-"/>
            </a:pPr>
            <a:r>
              <a:rPr lang="fr-FR" i="1" dirty="0">
                <a:latin typeface="Montserrat"/>
                <a:ea typeface="Montserrat"/>
                <a:cs typeface="Montserrat"/>
                <a:sym typeface="Montserrat"/>
              </a:rPr>
              <a:t>soit des Local industriel. commercial ou assimilé.</a:t>
            </a:r>
          </a:p>
          <a:p>
            <a:pPr marL="0" lvl="0" indent="0" algn="l" rtl="0">
              <a:spcBef>
                <a:spcPts val="0"/>
              </a:spcBef>
              <a:spcAft>
                <a:spcPts val="0"/>
              </a:spcAft>
              <a:buNone/>
            </a:pPr>
            <a:endParaRPr lang="fr-FR" i="1" dirty="0">
              <a:latin typeface="Montserrat"/>
              <a:ea typeface="Montserrat"/>
              <a:cs typeface="Montserrat"/>
              <a:sym typeface="Montserrat"/>
            </a:endParaRPr>
          </a:p>
          <a:p>
            <a:pPr marL="0" lvl="0" indent="0" algn="l" rtl="0">
              <a:spcBef>
                <a:spcPts val="0"/>
              </a:spcBef>
              <a:spcAft>
                <a:spcPts val="0"/>
              </a:spcAft>
              <a:buNone/>
            </a:pPr>
            <a:r>
              <a:rPr lang="fr-FR" i="1" dirty="0">
                <a:latin typeface="Montserrat"/>
                <a:ea typeface="Montserrat"/>
                <a:cs typeface="Montserrat"/>
                <a:sym typeface="Montserrat"/>
              </a:rPr>
              <a:t>Pour cela nous allons utiliser l'algorithme du </a:t>
            </a:r>
            <a:r>
              <a:rPr lang="fr-FR" i="1" dirty="0" err="1">
                <a:latin typeface="Montserrat"/>
                <a:ea typeface="Montserrat"/>
                <a:cs typeface="Montserrat"/>
                <a:sym typeface="Montserrat"/>
              </a:rPr>
              <a:t>KMeans</a:t>
            </a:r>
            <a:r>
              <a:rPr lang="fr-FR" i="1" dirty="0">
                <a:latin typeface="Montserrat"/>
                <a:ea typeface="Montserrat"/>
                <a:cs typeface="Montserrat"/>
                <a:sym typeface="Montserrat"/>
              </a:rPr>
              <a:t> sur le jeu de données partagé par l'entreprise.</a:t>
            </a:r>
          </a:p>
          <a:p>
            <a:pPr marL="0" lvl="0" indent="0" algn="l" rtl="0">
              <a:spcBef>
                <a:spcPts val="0"/>
              </a:spcBef>
              <a:spcAft>
                <a:spcPts val="0"/>
              </a:spcAft>
              <a:buNone/>
            </a:pPr>
            <a:r>
              <a:rPr lang="fr-FR" i="1" dirty="0">
                <a:latin typeface="Montserrat"/>
                <a:ea typeface="Montserrat"/>
                <a:cs typeface="Montserrat"/>
                <a:sym typeface="Montserrat"/>
              </a:rPr>
              <a:t>Pour que l'algorithme fonctionne, il faut que nous préparions les données en supprimant les dimensions inutiles et en nous concentrant sur le facteur discriminant entre les appartements et les locaux commerciaux : la différence dans le prix au mètre carré tel que nous l'avons vu avant.</a:t>
            </a:r>
            <a:endParaRPr i="1" dirty="0">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671000" y="640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sz="3300" dirty="0">
                <a:latin typeface="Montserrat"/>
                <a:ea typeface="Montserrat"/>
                <a:cs typeface="Montserrat"/>
                <a:sym typeface="Montserrat"/>
              </a:rPr>
              <a:t>II. Résultat de la classification</a:t>
            </a:r>
            <a:endParaRPr sz="3300" dirty="0">
              <a:latin typeface="Montserrat"/>
              <a:ea typeface="Montserrat"/>
              <a:cs typeface="Montserrat"/>
              <a:sym typeface="Montserrat"/>
            </a:endParaRPr>
          </a:p>
          <a:p>
            <a:pPr marL="0" lvl="0" indent="0" algn="l" rtl="0">
              <a:spcBef>
                <a:spcPts val="0"/>
              </a:spcBef>
              <a:spcAft>
                <a:spcPts val="0"/>
              </a:spcAft>
              <a:buNone/>
            </a:pPr>
            <a:endParaRPr sz="3600" dirty="0"/>
          </a:p>
          <a:p>
            <a:pPr marL="0" lvl="0" indent="0" algn="l" rtl="0">
              <a:spcBef>
                <a:spcPts val="0"/>
              </a:spcBef>
              <a:spcAft>
                <a:spcPts val="0"/>
              </a:spcAft>
              <a:buNone/>
            </a:pPr>
            <a:endParaRPr sz="3600" dirty="0"/>
          </a:p>
          <a:p>
            <a:pPr marL="0" lvl="0" indent="0" algn="l" rtl="0">
              <a:spcBef>
                <a:spcPts val="0"/>
              </a:spcBef>
              <a:spcAft>
                <a:spcPts val="0"/>
              </a:spcAft>
              <a:buNone/>
            </a:pPr>
            <a:endParaRPr dirty="0"/>
          </a:p>
        </p:txBody>
      </p:sp>
      <p:pic>
        <p:nvPicPr>
          <p:cNvPr id="3" name="Image 2">
            <a:extLst>
              <a:ext uri="{FF2B5EF4-FFF2-40B4-BE49-F238E27FC236}">
                <a16:creationId xmlns:a16="http://schemas.microsoft.com/office/drawing/2014/main" id="{3DC7C62B-FFEF-61D0-C717-B17D21F8C30A}"/>
              </a:ext>
            </a:extLst>
          </p:cNvPr>
          <p:cNvPicPr>
            <a:picLocks noChangeAspect="1"/>
          </p:cNvPicPr>
          <p:nvPr/>
        </p:nvPicPr>
        <p:blipFill>
          <a:blip r:embed="rId3"/>
          <a:stretch>
            <a:fillRect/>
          </a:stretch>
        </p:blipFill>
        <p:spPr>
          <a:xfrm>
            <a:off x="3436126" y="1338790"/>
            <a:ext cx="2797289" cy="348932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953986-0465-9982-7EA3-AF0C6988ADBA}"/>
              </a:ext>
            </a:extLst>
          </p:cNvPr>
          <p:cNvSpPr>
            <a:spLocks noGrp="1"/>
          </p:cNvSpPr>
          <p:nvPr>
            <p:ph type="title"/>
          </p:nvPr>
        </p:nvSpPr>
        <p:spPr/>
        <p:txBody>
          <a:bodyPr>
            <a:normAutofit fontScale="90000"/>
          </a:bodyPr>
          <a:lstStyle/>
          <a:p>
            <a:r>
              <a:rPr lang="fr-FR" dirty="0"/>
              <a:t>Mes conclusions sur l'analyse :</a:t>
            </a:r>
            <a:br>
              <a:rPr lang="fr-FR" dirty="0"/>
            </a:br>
            <a:endParaRPr lang="fr-FR" dirty="0"/>
          </a:p>
        </p:txBody>
      </p:sp>
      <p:sp>
        <p:nvSpPr>
          <p:cNvPr id="3" name="Espace réservé du texte 2">
            <a:extLst>
              <a:ext uri="{FF2B5EF4-FFF2-40B4-BE49-F238E27FC236}">
                <a16:creationId xmlns:a16="http://schemas.microsoft.com/office/drawing/2014/main" id="{447A1A10-1696-D879-AB39-59ADAEFF3E7B}"/>
              </a:ext>
            </a:extLst>
          </p:cNvPr>
          <p:cNvSpPr>
            <a:spLocks noGrp="1"/>
          </p:cNvSpPr>
          <p:nvPr>
            <p:ph type="body" idx="1"/>
          </p:nvPr>
        </p:nvSpPr>
        <p:spPr/>
        <p:txBody>
          <a:bodyPr>
            <a:normAutofit fontScale="25000" lnSpcReduction="20000"/>
          </a:bodyPr>
          <a:lstStyle/>
          <a:p>
            <a:pPr marL="146050" indent="0">
              <a:buNone/>
            </a:pPr>
            <a:endParaRPr lang="fr-FR" sz="4000" i="1" dirty="0">
              <a:latin typeface="Montserrat"/>
            </a:endParaRPr>
          </a:p>
          <a:p>
            <a:pPr marL="146050" indent="0">
              <a:buNone/>
            </a:pPr>
            <a:r>
              <a:rPr lang="fr-FR" sz="4000" i="1" dirty="0">
                <a:latin typeface="Montserrat"/>
              </a:rPr>
              <a:t>Grâce à notre étude des données foncières parisiennes entre 2017 et 2021, nous avons pu :</a:t>
            </a:r>
          </a:p>
          <a:p>
            <a:pPr marL="146050" indent="0">
              <a:buNone/>
            </a:pPr>
            <a:endParaRPr lang="fr-FR" sz="4000" i="1" dirty="0">
              <a:latin typeface="Montserrat"/>
            </a:endParaRPr>
          </a:p>
          <a:p>
            <a:pPr>
              <a:buFontTx/>
              <a:buChar char="-"/>
            </a:pPr>
            <a:r>
              <a:rPr lang="fr-FR" sz="4000" i="1" dirty="0">
                <a:latin typeface="Montserrat"/>
              </a:rPr>
              <a:t>Observer une hausse globale des prix au m² jusqu’en 2020, suivie d’un léger recul en 2021.</a:t>
            </a:r>
          </a:p>
          <a:p>
            <a:pPr>
              <a:buFontTx/>
              <a:buChar char="-"/>
            </a:pPr>
            <a:r>
              <a:rPr lang="fr-FR" sz="4000" i="1" dirty="0">
                <a:latin typeface="Montserrat"/>
              </a:rPr>
              <a:t>Confirmer la corrélation très forte entre la surface réelle et la valeur foncière (Pearson ≈ 0.98), ce qui valide l’importance de la surface dans la prédiction.</a:t>
            </a:r>
          </a:p>
          <a:p>
            <a:pPr>
              <a:buFontTx/>
              <a:buChar char="-"/>
            </a:pPr>
            <a:r>
              <a:rPr lang="fr-FR" sz="4000" i="1" dirty="0">
                <a:latin typeface="Montserrat"/>
              </a:rPr>
              <a:t>Identifier que le code postal (localisation) et le type de bien (appartement vs local commercial) ont une influence importante sur le prix.</a:t>
            </a:r>
          </a:p>
          <a:p>
            <a:pPr>
              <a:buFontTx/>
              <a:buChar char="-"/>
            </a:pPr>
            <a:r>
              <a:rPr lang="fr-FR" sz="4000" i="1" dirty="0">
                <a:latin typeface="Montserrat"/>
              </a:rPr>
              <a:t>Entraîner un modèle de régression linéaire performant (R² ≈ 0.98) pour prédire la valeur d’un bien à partir de ses caractéristiques.</a:t>
            </a:r>
          </a:p>
          <a:p>
            <a:pPr>
              <a:buFontTx/>
              <a:buChar char="-"/>
            </a:pPr>
            <a:r>
              <a:rPr lang="fr-FR" sz="4000" i="1" dirty="0">
                <a:latin typeface="Montserrat"/>
              </a:rPr>
              <a:t>Utiliser un clustering </a:t>
            </a:r>
            <a:r>
              <a:rPr lang="fr-FR" sz="4000" i="1" dirty="0" err="1">
                <a:latin typeface="Montserrat"/>
              </a:rPr>
              <a:t>KMeans</a:t>
            </a:r>
            <a:r>
              <a:rPr lang="fr-FR" sz="4000" i="1" dirty="0">
                <a:latin typeface="Montserrat"/>
              </a:rPr>
              <a:t> pour distinguer automatiquement les types de biens sur la base du prix au m².</a:t>
            </a:r>
          </a:p>
          <a:p>
            <a:pPr marL="146050" indent="0">
              <a:buNone/>
            </a:pPr>
            <a:endParaRPr lang="fr-FR" sz="4000" i="1" dirty="0">
              <a:latin typeface="Montserrat"/>
            </a:endParaRPr>
          </a:p>
          <a:p>
            <a:pPr marL="146050" indent="0">
              <a:buNone/>
            </a:pPr>
            <a:r>
              <a:rPr lang="fr-FR" sz="4000" i="1" dirty="0">
                <a:latin typeface="Montserrat"/>
              </a:rPr>
              <a:t>Limites de l’exercice :</a:t>
            </a:r>
          </a:p>
          <a:p>
            <a:pPr marL="146050" indent="0">
              <a:buNone/>
            </a:pPr>
            <a:endParaRPr lang="fr-FR" sz="4000" i="1" dirty="0">
              <a:latin typeface="Montserrat"/>
            </a:endParaRPr>
          </a:p>
          <a:p>
            <a:pPr>
              <a:buFontTx/>
              <a:buChar char="-"/>
            </a:pPr>
            <a:r>
              <a:rPr lang="fr-FR" sz="4000" i="1" dirty="0">
                <a:latin typeface="Montserrat"/>
              </a:rPr>
              <a:t>Les données de 2022 n’étaient pas disponibles ; on a donc extrapolé à partir de l’historique.</a:t>
            </a:r>
          </a:p>
          <a:p>
            <a:pPr>
              <a:buFontTx/>
              <a:buChar char="-"/>
            </a:pPr>
            <a:r>
              <a:rPr lang="fr-FR" sz="4000" i="1" dirty="0">
                <a:latin typeface="Montserrat"/>
              </a:rPr>
              <a:t>Le modèle suppose une relation linéaire entre les variables, ce qui n’est pas toujours vrai dans l’immobilier.</a:t>
            </a:r>
          </a:p>
          <a:p>
            <a:pPr>
              <a:buFontTx/>
              <a:buChar char="-"/>
            </a:pPr>
            <a:r>
              <a:rPr lang="fr-FR" sz="4000" i="1" dirty="0">
                <a:latin typeface="Montserrat"/>
              </a:rPr>
              <a:t>Le prix au m² peut varier fortement pour des raisons non visibles dans les données (étage, état, exposition…).</a:t>
            </a:r>
          </a:p>
          <a:p>
            <a:pPr marL="146050" indent="0">
              <a:buNone/>
            </a:pPr>
            <a:endParaRPr lang="fr-FR" dirty="0"/>
          </a:p>
        </p:txBody>
      </p:sp>
    </p:spTree>
    <p:extLst>
      <p:ext uri="{BB962C8B-B14F-4D97-AF65-F5344CB8AC3E}">
        <p14:creationId xmlns:p14="http://schemas.microsoft.com/office/powerpoint/2010/main" val="3404846057"/>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TotalTime>
  <Words>809</Words>
  <Application>Microsoft Office PowerPoint</Application>
  <PresentationFormat>Affichage à l'écran (16:9)</PresentationFormat>
  <Paragraphs>73</Paragraphs>
  <Slides>13</Slides>
  <Notes>9</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13</vt:i4>
      </vt:variant>
    </vt:vector>
  </HeadingPairs>
  <TitlesOfParts>
    <vt:vector size="19" baseType="lpstr">
      <vt:lpstr>Montserrat</vt:lpstr>
      <vt:lpstr>Helvetica Neue</vt:lpstr>
      <vt:lpstr>Lato</vt:lpstr>
      <vt:lpstr>Raleway</vt:lpstr>
      <vt:lpstr>Arial</vt:lpstr>
      <vt:lpstr>Streamline</vt:lpstr>
      <vt:lpstr>Les Plus Beaux Logis de Paris Partie 1</vt:lpstr>
      <vt:lpstr>Présentation PowerPoint</vt:lpstr>
      <vt:lpstr>Objectifs du projet </vt:lpstr>
      <vt:lpstr>II. Méthodologie suivie    </vt:lpstr>
      <vt:lpstr>Analyse du marché de l’immobilier</vt:lpstr>
      <vt:lpstr>Analyse du marché de l’immobilier</vt:lpstr>
      <vt:lpstr>Vérification de la relation entre le prix au m² et les variables </vt:lpstr>
      <vt:lpstr>Analyse du marché de l’immobilier</vt:lpstr>
      <vt:lpstr>III. Résultat des prédictions   </vt:lpstr>
      <vt:lpstr>Les Plus Beaux Logis de Paris Partie 2</vt:lpstr>
      <vt:lpstr>I. Méthodologie suivie    </vt:lpstr>
      <vt:lpstr>II. Résultat de la classification   </vt:lpstr>
      <vt:lpstr>Mes conclusions sur l'analyse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Noura OUSFIA</cp:lastModifiedBy>
  <cp:revision>6</cp:revision>
  <dcterms:modified xsi:type="dcterms:W3CDTF">2025-08-08T09:41:49Z</dcterms:modified>
</cp:coreProperties>
</file>